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4" d="100"/>
          <a:sy n="94" d="100"/>
        </p:scale>
        <p:origin x="10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26019-E742-46AC-A422-C3E492484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4765CC-26DA-44F7-A30A-0F3E33403A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C7D3E-63C1-4597-9CD1-F740063B6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F213-9750-40E6-95AB-1EA570F28B4F}" type="datetimeFigureOut">
              <a:rPr lang="en-GB" smtClean="0"/>
              <a:t>04-May-2026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9BE98-068B-4527-97A4-5A3C7D54B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2B012-A4A8-452A-B900-B1B039874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5F5F5-EF6A-41BA-A527-F928A63C55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3117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49FED-F909-4AF5-B524-97F36995B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C0777-7F1D-4186-8618-BA00D227D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329CC-962E-4A28-B041-1B9E9CD6E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F213-9750-40E6-95AB-1EA570F28B4F}" type="datetimeFigureOut">
              <a:rPr lang="en-GB" smtClean="0"/>
              <a:t>04-May-2026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C1D85-6DFD-4FE7-B6D8-4BA9AC242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8F860-94FA-49CD-A44F-8096BD4FC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5F5F5-EF6A-41BA-A527-F928A63C55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062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4AE3B-975D-46AD-886B-F4F2676D1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1874C5-1736-47EA-986B-95E60B55F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C2A7B-9AB6-48E6-AA51-1F4A010DA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F213-9750-40E6-95AB-1EA570F28B4F}" type="datetimeFigureOut">
              <a:rPr lang="en-GB" smtClean="0"/>
              <a:t>04-May-2026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63895-8135-41E9-9199-23E0A9D27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1ABDB-1D3B-47E5-971A-2FA18CB48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5F5F5-EF6A-41BA-A527-F928A63C55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3116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2CBBE-BF7D-4A85-8162-174E737BA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11A61-D9FA-4491-A7F7-EAB7CE2F07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33EEFC-0A33-4570-92F5-F7D92070CC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AE2B6-767E-4CDB-B656-B2D18C554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F213-9750-40E6-95AB-1EA570F28B4F}" type="datetimeFigureOut">
              <a:rPr lang="en-GB" smtClean="0"/>
              <a:t>04-May-2026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3EDCE1-F0D5-44E1-9227-8B4C00B22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334CC6-9ECD-409E-AF8F-96B5F3905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5F5F5-EF6A-41BA-A527-F928A63C55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0882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A91DF-DC62-4337-9AFD-C049AAF28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0A97A-7D70-4DBC-BF99-A668E1E36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863252-B770-4190-BABD-DF2E541B17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CB09E5-A921-4A8E-AD89-68A3E3FCB0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1F1BDF-8958-429A-A554-4978D58EC5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AD2C53-86E9-4DE4-B9E7-9AD903A8E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F213-9750-40E6-95AB-1EA570F28B4F}" type="datetimeFigureOut">
              <a:rPr lang="en-GB" smtClean="0"/>
              <a:t>04-May-2026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1B7E29-E8AE-4DCD-B667-59CAA68C3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EBD1A0-A7B4-4F1F-AA5D-B34C5DF0F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5F5F5-EF6A-41BA-A527-F928A63C55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9809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F7029-C991-4E9F-9A66-5407B0C96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B987C0-6600-4149-904F-ED5D82C82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F213-9750-40E6-95AB-1EA570F28B4F}" type="datetimeFigureOut">
              <a:rPr lang="en-GB" smtClean="0"/>
              <a:t>04-May-2026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85F5FD-F6F2-4071-904D-5D282588E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34D66B-102A-4C6A-90D0-0E1589E8F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5F5F5-EF6A-41BA-A527-F928A63C55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1940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6F31A3-ED28-4451-872B-F405E5DFD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F213-9750-40E6-95AB-1EA570F28B4F}" type="datetimeFigureOut">
              <a:rPr lang="en-GB" smtClean="0"/>
              <a:t>04-May-2026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6A6777-43DE-430F-95B5-6A8206D2F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D240E8-FBD3-44F2-A64E-7D7494E9D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5F5F5-EF6A-41BA-A527-F928A63C55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7952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88969-7F1D-4608-90F4-E0EA556E0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16F2B-7CDB-422A-96B8-CAD85F3ED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716FCF-E755-4910-AAEF-649B149D6A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214AE-84E3-483D-9623-9F86A141E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F213-9750-40E6-95AB-1EA570F28B4F}" type="datetimeFigureOut">
              <a:rPr lang="en-GB" smtClean="0"/>
              <a:t>04-May-2026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EA2BB8-F4AC-4126-9473-454DD8B00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F2B48A-94E7-4CEA-BFD7-4A07BC561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5F5F5-EF6A-41BA-A527-F928A63C55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8151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B2399-275E-4A82-A7DB-44E789ED3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092C29-93CC-4915-9A24-1DC8E22F1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0B042F-23CF-443C-B0B4-3973A1E16B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EB7DF4-4860-42A0-959D-C8FB19716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F213-9750-40E6-95AB-1EA570F28B4F}" type="datetimeFigureOut">
              <a:rPr lang="en-GB" smtClean="0"/>
              <a:t>04-May-2026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E2CC5-A98D-46BA-9151-4EE3A8660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3DF13F-7446-428A-A78E-1241502AF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5F5F5-EF6A-41BA-A527-F928A63C55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761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6B213-C26C-4D59-915C-4CE6B267D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FCAC1F-C856-48B4-805A-EF8D09C86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C0793-E682-4A91-9A6C-DA71D2897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F213-9750-40E6-95AB-1EA570F28B4F}" type="datetimeFigureOut">
              <a:rPr lang="en-GB" smtClean="0"/>
              <a:t>04-May-2026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288F2-6E87-4657-8F3C-D16EBBBCA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85C4F-9018-47A6-940D-070558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5F5F5-EF6A-41BA-A527-F928A63C55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68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AA1227-ACCA-49D2-B530-A401B8DB64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C7449E-8E5D-4ED2-845A-169174A399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2B282-FAD0-452A-B902-1356468E9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F213-9750-40E6-95AB-1EA570F28B4F}" type="datetimeFigureOut">
              <a:rPr lang="en-GB" smtClean="0"/>
              <a:t>04-May-2026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90EAE-A09F-4577-879E-B217C30D4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19DBD-C2DB-4BD3-A636-62009D7D5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5F5F5-EF6A-41BA-A527-F928A63C55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7596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A71B52-5F7B-4EB7-9B5E-82DB94975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8F5D56-6293-487B-B52F-2CCAC9EDC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258DB-A338-45CF-A58F-4034727592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1F213-9750-40E6-95AB-1EA570F28B4F}" type="datetimeFigureOut">
              <a:rPr lang="en-GB" smtClean="0"/>
              <a:t>04-May-2026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8EB70-D46D-4A2C-BCF9-65DB7A69A1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98847-48C6-4D06-9054-9F81547528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65F5F5-EF6A-41BA-A527-F928A63C55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0628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6CD2E-2900-488E-90CE-705A69F528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6003"/>
            <a:ext cx="9144000" cy="1208599"/>
          </a:xfrm>
        </p:spPr>
        <p:txBody>
          <a:bodyPr>
            <a:normAutofit fontScale="90000"/>
          </a:bodyPr>
          <a:lstStyle/>
          <a:p>
            <a:r>
              <a:rPr lang="en-GB" sz="4400" b="1" dirty="0"/>
              <a:t>Initial Data Exploration Findings</a:t>
            </a:r>
            <a:br>
              <a:rPr lang="en-GB" sz="4400" b="1" dirty="0"/>
            </a:br>
            <a:endParaRPr lang="en-GB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0F0C22-4A7C-4CD3-9D27-3D9B51CC1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906449"/>
            <a:ext cx="9144000" cy="5462546"/>
          </a:xfrm>
        </p:spPr>
        <p:txBody>
          <a:bodyPr>
            <a:noAutofit/>
          </a:bodyPr>
          <a:lstStyle/>
          <a:p>
            <a:pPr algn="l"/>
            <a:r>
              <a:rPr lang="en-GB" sz="1800" b="1" dirty="0"/>
              <a:t>Dataset Overview (2010-2019):</a:t>
            </a:r>
            <a:endParaRPr lang="en-GB" sz="18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1800" dirty="0"/>
              <a:t>Total movies in database: ~89,000 films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1800" dirty="0"/>
              <a:t>Rating data available for approximately 60% of movies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1800" dirty="0"/>
              <a:t>Complete genre information for 100% of movies</a:t>
            </a:r>
          </a:p>
          <a:p>
            <a:pPr algn="l"/>
            <a:r>
              <a:rPr lang="en-GB" sz="1800" b="1" dirty="0"/>
              <a:t>Key Observations:</a:t>
            </a:r>
            <a:endParaRPr lang="en-GB" sz="18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1800" dirty="0"/>
              <a:t>Average movie rating has remained stable around 6.2-6.5/10 across the decade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1800" dirty="0"/>
              <a:t>Movie runtimes have slightly decreased over time (from ~102 to ~97 minutes)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1800" dirty="0"/>
              <a:t>Most common genre: Drama (appears in 45% of movies)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1800" dirty="0"/>
              <a:t>Top-rated genre combinations: Documentary + Biography + Music (</a:t>
            </a:r>
            <a:r>
              <a:rPr lang="en-GB" sz="1800" dirty="0" err="1"/>
              <a:t>avg</a:t>
            </a:r>
            <a:r>
              <a:rPr lang="en-GB" sz="1800" dirty="0"/>
              <a:t> 7.8/10)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1800" dirty="0"/>
              <a:t>Genre diversity increases over time (more hybrid genres appearing)</a:t>
            </a:r>
          </a:p>
          <a:p>
            <a:pPr algn="l"/>
            <a:r>
              <a:rPr lang="en-GB" sz="1800" b="1" dirty="0"/>
              <a:t>Data Quality Notes:</a:t>
            </a:r>
            <a:endParaRPr lang="en-GB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800" dirty="0"/>
              <a:t>15% of movies missing runtime data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800" dirty="0"/>
              <a:t>40% missing rating/vote data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800" dirty="0"/>
              <a:t>Genre field contains multiple genres concatenated (needs parsing)</a:t>
            </a:r>
          </a:p>
          <a:p>
            <a:pPr algn="l"/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4144399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CC313-A41E-4CE4-9CC7-9ACC63713D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683811"/>
            <a:ext cx="12030323" cy="1439187"/>
          </a:xfrm>
        </p:spPr>
        <p:txBody>
          <a:bodyPr>
            <a:normAutofit/>
          </a:bodyPr>
          <a:lstStyle/>
          <a:p>
            <a:r>
              <a:rPr lang="en-GB" sz="4400" b="1" dirty="0"/>
              <a:t>Business Question for Further Analysis</a:t>
            </a:r>
            <a:br>
              <a:rPr lang="en-GB" sz="4400" b="1" dirty="0"/>
            </a:br>
            <a:endParaRPr lang="en-GB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8A82E-5375-4719-B3AB-36343F90D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52751"/>
            <a:ext cx="9144000" cy="4126630"/>
          </a:xfrm>
        </p:spPr>
        <p:txBody>
          <a:bodyPr>
            <a:normAutofit lnSpcReduction="10000"/>
          </a:bodyPr>
          <a:lstStyle/>
          <a:p>
            <a:pPr algn="l"/>
            <a:r>
              <a:rPr lang="en-GB" b="1" dirty="0"/>
              <a:t>Question:</a:t>
            </a:r>
            <a:r>
              <a:rPr lang="en-GB" dirty="0"/>
              <a:t> "How do movie runtimes correlate with audience ratings across different genres, and has this relationship changed over the past decade?"</a:t>
            </a:r>
          </a:p>
          <a:p>
            <a:pPr algn="l"/>
            <a:r>
              <a:rPr lang="en-GB" b="1" dirty="0"/>
              <a:t>Why this matters:</a:t>
            </a:r>
            <a:endParaRPr lang="en-GB" dirty="0"/>
          </a:p>
          <a:p>
            <a:pPr algn="l"/>
            <a:r>
              <a:rPr lang="en-GB" dirty="0"/>
              <a:t>Streaming platforms have changed viewing habits</a:t>
            </a:r>
          </a:p>
          <a:p>
            <a:pPr algn="l"/>
            <a:r>
              <a:rPr lang="en-GB" dirty="0"/>
              <a:t>Production companies need guidance on optimal runtime for different genres</a:t>
            </a:r>
          </a:p>
          <a:p>
            <a:pPr algn="l"/>
            <a:r>
              <a:rPr lang="en-GB" dirty="0"/>
              <a:t>Marketing strategies can be tailored based on genre-specific runtime preferences</a:t>
            </a:r>
          </a:p>
          <a:p>
            <a:pPr algn="l"/>
            <a:r>
              <a:rPr lang="en-GB" b="1" dirty="0"/>
              <a:t>Supporting Visualization:</a:t>
            </a:r>
            <a:r>
              <a:rPr lang="en-GB" dirty="0"/>
              <a:t> (Scatter plot showing runtime vs rating, </a:t>
            </a:r>
            <a:r>
              <a:rPr lang="en-GB" dirty="0" err="1"/>
              <a:t>colored</a:t>
            </a:r>
            <a:r>
              <a:rPr lang="en-GB" dirty="0"/>
              <a:t> by genre)</a:t>
            </a:r>
          </a:p>
          <a:p>
            <a:pPr algn="l"/>
            <a:endParaRPr lang="en-GB" sz="2100" dirty="0"/>
          </a:p>
        </p:txBody>
      </p:sp>
    </p:spTree>
    <p:extLst>
      <p:ext uri="{BB962C8B-B14F-4D97-AF65-F5344CB8AC3E}">
        <p14:creationId xmlns:p14="http://schemas.microsoft.com/office/powerpoint/2010/main" val="791412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47DE4-0B3A-4191-9330-3C1D1295E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77428"/>
          </a:xfrm>
        </p:spPr>
        <p:txBody>
          <a:bodyPr>
            <a:noAutofit/>
          </a:bodyPr>
          <a:lstStyle/>
          <a:p>
            <a:r>
              <a:rPr lang="en-GB" sz="3200" b="1" dirty="0"/>
              <a:t>Potential Data Cleaning Tasks Identified</a:t>
            </a:r>
            <a:br>
              <a:rPr lang="en-GB" sz="3200" b="1" dirty="0"/>
            </a:br>
            <a:endParaRPr lang="en-GB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FF701-1B08-4E95-BFA3-6CD2C81B0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7523"/>
            <a:ext cx="10515600" cy="51194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Critical Cleaning Needs:</a:t>
            </a:r>
          </a:p>
          <a:p>
            <a:pPr marL="0" indent="0">
              <a:buNone/>
            </a:pPr>
            <a:r>
              <a:rPr lang="en-GB" sz="2400" b="1" dirty="0"/>
              <a:t>Genre Normalization:</a:t>
            </a:r>
            <a:endParaRPr lang="en-GB" sz="2400" dirty="0"/>
          </a:p>
          <a:p>
            <a:pPr marL="0" lvl="1" indent="0">
              <a:buNone/>
            </a:pPr>
            <a:r>
              <a:rPr lang="en-GB" dirty="0"/>
              <a:t>Current format: "</a:t>
            </a:r>
            <a:r>
              <a:rPr lang="en-GB" dirty="0" err="1"/>
              <a:t>Drama,Comedy,Romance</a:t>
            </a:r>
            <a:r>
              <a:rPr lang="en-GB" dirty="0"/>
              <a:t>" (pipe or comma separated)</a:t>
            </a:r>
          </a:p>
          <a:p>
            <a:pPr marL="0" lvl="1" indent="0">
              <a:buNone/>
            </a:pPr>
            <a:r>
              <a:rPr lang="en-GB" dirty="0"/>
              <a:t>Need to split into individual genres for analysis</a:t>
            </a:r>
          </a:p>
          <a:p>
            <a:pPr marL="0" lvl="1" indent="0">
              <a:buNone/>
            </a:pPr>
            <a:r>
              <a:rPr lang="en-GB" dirty="0"/>
              <a:t>Create bridge table for genre relationships</a:t>
            </a:r>
          </a:p>
          <a:p>
            <a:pPr marL="0" lvl="1" indent="0">
              <a:buNone/>
            </a:pPr>
            <a:r>
              <a:rPr lang="en-GB" b="1" dirty="0"/>
              <a:t>Null Value Handling:</a:t>
            </a:r>
          </a:p>
          <a:p>
            <a:pPr marL="0" lvl="1" indent="0">
              <a:buNone/>
            </a:pPr>
            <a:r>
              <a:rPr lang="en-GB" dirty="0"/>
              <a:t>Runtime: 15% null values (exclude from runtime analysis)</a:t>
            </a:r>
          </a:p>
          <a:p>
            <a:pPr marL="0" lvl="1" indent="0">
              <a:buNone/>
            </a:pPr>
            <a:r>
              <a:rPr lang="en-GB" dirty="0"/>
              <a:t>Ratings: 40% missing (requires minimum vote threshold)</a:t>
            </a:r>
          </a:p>
          <a:p>
            <a:pPr marL="0" lvl="1" indent="0">
              <a:buNone/>
            </a:pPr>
            <a:r>
              <a:rPr lang="en-GB" dirty="0"/>
              <a:t>Genres: Well-populated (99% complete)</a:t>
            </a:r>
          </a:p>
          <a:p>
            <a:pPr marL="0" lvl="1" indent="0">
              <a:buNone/>
            </a:pPr>
            <a:r>
              <a:rPr lang="en-GB" b="1" dirty="0"/>
              <a:t>Data Standardization:</a:t>
            </a:r>
          </a:p>
          <a:p>
            <a:pPr marL="0" lvl="1" indent="0">
              <a:buNone/>
            </a:pPr>
            <a:r>
              <a:rPr lang="en-GB" dirty="0"/>
              <a:t>Movie IDs: Consistent format across tables (good)</a:t>
            </a:r>
          </a:p>
          <a:p>
            <a:pPr marL="0" lvl="1" indent="0">
              <a:buNone/>
            </a:pPr>
            <a:r>
              <a:rPr lang="en-GB" dirty="0"/>
              <a:t>Year extraction: </a:t>
            </a:r>
            <a:r>
              <a:rPr lang="en-GB" dirty="0" err="1"/>
              <a:t>start_year</a:t>
            </a:r>
            <a:r>
              <a:rPr lang="en-GB" dirty="0"/>
              <a:t> field is reliable</a:t>
            </a:r>
          </a:p>
          <a:p>
            <a:pPr marL="0" lvl="1" indent="0">
              <a:buNone/>
            </a:pPr>
            <a:r>
              <a:rPr lang="en-GB" dirty="0"/>
              <a:t>Runtime outliers: Remove movies under 30 minutes (likely short films)</a:t>
            </a:r>
          </a:p>
          <a:p>
            <a:pPr marL="0" indent="45720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961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47DE4-0B3A-4191-9330-3C1D1295E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77428"/>
          </a:xfrm>
        </p:spPr>
        <p:txBody>
          <a:bodyPr>
            <a:noAutofit/>
          </a:bodyPr>
          <a:lstStyle/>
          <a:p>
            <a:r>
              <a:rPr lang="en-GB" sz="3200" b="1" dirty="0"/>
              <a:t>Potential Data Cleaning Tasks Identified</a:t>
            </a:r>
            <a:br>
              <a:rPr lang="en-GB" sz="3200" b="1" dirty="0"/>
            </a:br>
            <a:endParaRPr lang="en-GB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FF701-1B08-4E95-BFA3-6CD2C81B0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7523"/>
            <a:ext cx="10515600" cy="5119440"/>
          </a:xfrm>
        </p:spPr>
        <p:txBody>
          <a:bodyPr>
            <a:normAutofit/>
          </a:bodyPr>
          <a:lstStyle/>
          <a:p>
            <a:r>
              <a:rPr lang="en-GB" b="1" dirty="0"/>
              <a:t>Derived Fields Needed:</a:t>
            </a:r>
            <a:endParaRPr lang="en-GB" dirty="0"/>
          </a:p>
          <a:p>
            <a:pPr lvl="1"/>
            <a:r>
              <a:rPr lang="en-GB" dirty="0"/>
              <a:t>Extract decade from </a:t>
            </a:r>
            <a:r>
              <a:rPr lang="en-GB" dirty="0" err="1"/>
              <a:t>start_year</a:t>
            </a:r>
            <a:endParaRPr lang="en-GB" dirty="0"/>
          </a:p>
          <a:p>
            <a:pPr lvl="1"/>
            <a:r>
              <a:rPr lang="en-GB" dirty="0"/>
              <a:t>Create rating bins (High: 8+, Medium: 6-8, Low: &lt;6)</a:t>
            </a:r>
          </a:p>
          <a:p>
            <a:pPr lvl="1"/>
            <a:r>
              <a:rPr lang="en-GB" dirty="0"/>
              <a:t>Calculate vote-weighted ratings for accuracy</a:t>
            </a:r>
          </a:p>
          <a:p>
            <a:r>
              <a:rPr lang="en-GB" b="1" dirty="0"/>
              <a:t>Join Considerations:</a:t>
            </a:r>
            <a:endParaRPr lang="en-GB" dirty="0"/>
          </a:p>
          <a:p>
            <a:pPr lvl="1"/>
            <a:r>
              <a:rPr lang="en-GB" dirty="0"/>
              <a:t>Use LEFT JOINs to preserve movies without ratings</a:t>
            </a:r>
          </a:p>
          <a:p>
            <a:pPr lvl="1"/>
            <a:r>
              <a:rPr lang="en-GB" dirty="0"/>
              <a:t>Filter out movies with &lt;1000 votes for reliable ratings</a:t>
            </a:r>
          </a:p>
          <a:p>
            <a:pPr marL="0" indent="45720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7323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380</Words>
  <Application>Microsoft Office PowerPoint</Application>
  <PresentationFormat>Widescreen</PresentationFormat>
  <Paragraphs>44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Initial Data Exploration Findings </vt:lpstr>
      <vt:lpstr>Business Question for Further Analysis </vt:lpstr>
      <vt:lpstr>Potential Data Cleaning Tasks Identified </vt:lpstr>
      <vt:lpstr>Potential Data Cleaning Tasks Identified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Initial Data Exploration Findings</dc:title>
  <dc:creator>Oscar Onsombi Mokera</dc:creator>
  <cp:lastModifiedBy>Oscar Onsombi Mokera</cp:lastModifiedBy>
  <cp:revision>3</cp:revision>
  <dcterms:created xsi:type="dcterms:W3CDTF">2026-05-04T08:59:49Z</dcterms:created>
  <dcterms:modified xsi:type="dcterms:W3CDTF">2026-05-04T09:13:54Z</dcterms:modified>
</cp:coreProperties>
</file>